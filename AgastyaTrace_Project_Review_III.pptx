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24"/>
          </a:solidFill>
          <a:ln>
            <a:solidFill>
              <a:srgbClr val="123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971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23524"/>
                </a:solidFill>
              </a:defRPr>
            </a:pPr>
            <a:r>
              <a:t>JSPM's Rajarshi Shahu College of Engineering, Tathawade, Pune - 33</a:t>
            </a:r>
          </a:p>
          <a:p>
            <a:pPr algn="ctr">
              <a:defRPr sz="1100">
                <a:solidFill>
                  <a:srgbClr val="6C757D"/>
                </a:solidFill>
              </a:defRPr>
            </a:pPr>
            <a:r>
              <a:t>(An Autonomous Institute Affiliated to Savitribai Phule Pune University)</a:t>
            </a:r>
            <a:br/>
            <a:r>
              <a:t>Department of Information Technology</a:t>
            </a:r>
          </a:p>
          <a:p>
            <a:pPr algn="ctr">
              <a:defRPr sz="1200" b="1">
                <a:solidFill>
                  <a:srgbClr val="C5A059"/>
                </a:solidFill>
              </a:defRPr>
            </a:pPr>
            <a:r>
              <a:t>PROJECT STAGE I — REVIEW III / MSE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31720"/>
            <a:ext cx="99971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23524"/>
                </a:solidFill>
              </a:defRPr>
            </a:pPr>
            <a:r>
              <a:t>Botanical Traceability System of Ayurvedic Herbs</a:t>
            </a:r>
            <a:br/>
            <a:r>
              <a:t>Using Blockchain Technology</a:t>
            </a:r>
          </a:p>
          <a:p>
            <a:pPr algn="ctr">
              <a:defRPr sz="1300" b="1">
                <a:solidFill>
                  <a:srgbClr val="1E5631"/>
                </a:solidFill>
              </a:defRPr>
            </a:pPr>
            <a:r>
              <a:t>Project Code Name: AgastyaTrace  |  Team ID: B3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3931920"/>
            <a:ext cx="4572000" cy="18288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4023360"/>
            <a:ext cx="42062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23524"/>
                </a:solidFill>
              </a:defRPr>
            </a:pPr>
            <a:r>
              <a:t>PROJECT TEAM MEMBERS: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• Parth Mirajkar  (RBT23IT066)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• Kuldeep Khartude  (RBT23IT096)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• Prasad Zoman  (RBT23IT110)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4663440" cy="18288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023360"/>
            <a:ext cx="42976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23524"/>
                </a:solidFill>
              </a:defRPr>
            </a:pPr>
            <a:r>
              <a:t>PROJECT GUIDANCE &amp; COORDINATION:</a:t>
            </a:r>
          </a:p>
          <a:p>
            <a:pPr>
              <a:defRPr b="1" sz="1100">
                <a:solidFill>
                  <a:srgbClr val="1E5631"/>
                </a:solidFill>
              </a:defRPr>
            </a:pPr>
            <a:r>
              <a:t>Project Guide: Dr. Rupali T. Umbare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Project Coordinator: Dr. Rupali Umbare</a:t>
            </a:r>
            <a:br/>
            <a:r>
              <a:t>Head of Department: Dr. Nihar M. Ranjan</a:t>
            </a:r>
            <a:br/>
            <a:r>
              <a:t>Academic Year: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1. PROJECT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524"/>
                </a:solidFill>
              </a:defRPr>
            </a:pPr>
            <a:r>
              <a:t>Motivation — Case Study: Ashwagandha Supply Chain Vulnerability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23524"/>
                </a:solidFill>
              </a:defRPr>
            </a:pPr>
            <a:r>
              <a:t>Multi-Tiered Intermediaries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Wild Ashwagandha (Withania somnifera) collected in Rajasthan/MP passes through 5 to 7 unmonitored middlemen before manufacturing.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Total absence of digital chain-of-custody documentation results in zero traceability back to original harvest 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23524"/>
                </a:solidFill>
              </a:defRPr>
            </a:pPr>
            <a:r>
              <a:t>Widespread Species Adulteration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FSSAI laboratory testing (2022–23) revealed ~32% of sampled commercial Ayurvedic products contained incorrect, substituted, or adulterated herbs.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Ashwagandha is routinely adulterated with Withania coagulans (cheaper, lacking equivalent therapeutic withanolide profiles).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19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23524"/>
                </a:solidFill>
              </a:defRPr>
            </a:pPr>
            <a:r>
              <a:t>Global Export Rejections &amp; Economic Loss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WHO reports over 40% of herbal medicine supply chains suffer adulteration.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Indian Ayurvedic exports face severe regulatory rejections in EU &amp; US (FDA/EMA) due to missing verifiable provenance records and Good Agricultural Practices (GACP) compliance.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77639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19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23524"/>
                </a:solidFill>
              </a:defRPr>
            </a:pPr>
            <a:r>
              <a:t>Economic Injustice for Tribal Collectors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Primary tribal and rural harvesters capture less than 15% of the final product Maximum Retail Price (MRP).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Intermediaries hoard profits while collectors lack digital proof of collection, authentic geo-tagging, or direct fair-trade incentives.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2.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524"/>
                </a:solidFill>
              </a:defRPr>
            </a:pPr>
            <a:r>
              <a:t>Introduction: Traditional Medicine &amp; The Botanical Quality Crisis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23524"/>
                </a:solidFill>
              </a:defRPr>
            </a:pPr>
            <a:r>
              <a:t>The Ayurvedic Landscape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Ayurveda represents a 5,000-year-old holistic healthcare science deeply embedded in traditional Indian medicine.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Global market valued at USD $9.71 Billion in 2022, estimated to reach $21.5B by 2030 (CAGR of 16.14%).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Exponential international demand has created severe strain on wild herb sourcing, incentivizing illicit adulteration.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23524"/>
                </a:solidFill>
              </a:defRPr>
            </a:pPr>
            <a:r>
              <a:t>Limitations of Existing Quality Control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Traditional verification relies on visual microscopy and post-production spot chemical testing—easily manipulated and error-prone.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Centralized traceability databases suffer from single points of failure, administrative override, and zero multi-stakeholder trust.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No cryptographically verifiable link exists between consumer bottle and harvest location.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19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23524"/>
                </a:solidFill>
              </a:defRPr>
            </a:pPr>
            <a:r>
              <a:t>The Blockchain Solution Paradigm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Decentralization: Eliminates single centralized authorities; all supply participants maintain synchronized state.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Immutability: Cryptographic hash chaining prevents retroactive modification of harvesting or laboratory testing data.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Transparency: Provides consumers and regulators a tamper-proof single source of truth across all processing stages.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77639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19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23524"/>
                </a:solidFill>
              </a:defRPr>
            </a:pPr>
            <a:r>
              <a:t>AgastyaTrace Value Proposition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End-to-end provenance architecture tracking herb journey from geo-tagged collection to final retail QR code.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Dual-Storage Model: Fast operational database (MongoDB) coupled with lightweight on-chain Ethereum cryptographic proof anchoring.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Instant public verification without requiring proprietary apps or gas fees for consumers.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3. 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524"/>
                </a:solidFill>
              </a:defRPr>
            </a:pPr>
            <a:r>
              <a:t>Literature Survey: 10 Key Benchmark Papers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926080"/>
                <a:gridCol w="2194560"/>
                <a:gridCol w="5059375"/>
              </a:tblGrid>
              <a:tr h="448887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Sr</a:t>
                      </a:r>
                    </a:p>
                  </a:txBody>
                  <a:tcPr>
                    <a:solidFill>
                      <a:srgbClr val="1235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Paper Title &amp; Publication</a:t>
                      </a:r>
                    </a:p>
                  </a:txBody>
                  <a:tcPr>
                    <a:solidFill>
                      <a:srgbClr val="1235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Authors / Year</a:t>
                      </a:r>
                    </a:p>
                  </a:txBody>
                  <a:tcPr>
                    <a:solidFill>
                      <a:srgbClr val="1235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Key Finding &amp; Relevance to AgastyaTrace</a:t>
                      </a:r>
                    </a:p>
                  </a:txBody>
                  <a:tcPr>
                    <a:solidFill>
                      <a:srgbClr val="123524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1252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Herb Chain: Blockchain Platform for Quality Assurance of Herbal Products (J. Cleaner Prod.)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Chen et al., 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Validated consortium blockchain + QR codes for consumer transparency in traditional herbal medicines.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1252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Trusted Blockchain-Based Traceability for Fruit &amp; Vegetable Agricultural Products (IEEE Access)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Lin et al., 2021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Introduced reputation-based smart contracts for supply data integrity; influenced our quality score model.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12529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Improving Agricultural Product Traceability Using Blockchain (Computers &amp; Elec. in Ag.)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Feng et al., 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Recommended dual-storage (Blockchain + off-chain storage) to prevent ledger data bloat and ensure scale.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Traditional Chinese Medicine Traceability System Based on Lightweight Blockchain (Appl. Sci.)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Wang et al., 2022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Reinforced lightweight hash-anchoring to reduce on-chain execution overhead while keeping cryptographic audit.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Blockchain-Based Traceability in Agri-Food SME: Case Study of a Traditional Bakery (Foods)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Balamurugan et al., 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Demonstrated practical full-stack IoT + Web + Blockchain workflow in real-world commercial environment.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12529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Blockchain-Based Food Traceability System Using IoT and Smart Contracts (IEEE ICSSSM)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Tian, 2017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Foundational study integrating HACCP safety checkpoints, RFID/IoT, and blockchain immutable state records.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12529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A Framework for Blockchain-Based Supply Chain Traceability (Int. J. Inf. Manage.)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Kshetri, 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Identified transparency, consumer trust, and regulatory compliance as prime blockchain ROI metrics.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12529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Blockchain and IoT-Based Agricultural Traceability System (IoTBDS)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Caro et al., 2018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Compared Ethereum and Hyperledger; proved Ethereum smart contract feasibility for multi-stage agriculture.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12529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Secure and Efficient Data Sharing in Supply Chain Using Blockchain (Int. J. Prod. Res.)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Saberi et al., 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Focused on blockchain governance barriers and secure multi-party state synchronization protocols.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9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12529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AI &amp; Blockchain-Based Traceability for Herbal Medicine Supply Chain (Comp. Elec. Ag.)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Patel / Kumar, 2023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Combined botanical computer vision and cryptographic proofs to detect physical herbal adulteration.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4.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524"/>
                </a:solidFill>
              </a:defRPr>
            </a:pPr>
            <a:r>
              <a:t>Objectives of Project: Technical &amp; Operational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23524"/>
                </a:solidFill>
              </a:defRPr>
            </a:pPr>
            <a:r>
              <a:t>1. End-to-End Botanical Traceability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Establish a tamper-proof digital chain-of-custody tracking wild/cultivated herbs from geo-tagged collection through transport, processing, testing, and final retail bottle packaging.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23524"/>
                </a:solidFill>
              </a:defRPr>
            </a:pPr>
            <a:r>
              <a:t>2. Cryptographic Proof Anchoring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Deploy an immutable Ethereum smart contract architecture that stores 32-byte Keccak-256 data hashes linked through a previous-event cryptographic hash chain (non-repudiation).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23524"/>
                </a:solidFill>
              </a:defRPr>
            </a:pPr>
            <a:r>
              <a:t>3. Verified Multi-Stakeholder Attribution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Provide dedicated authenticated portals for Collectors, Transporters, Processors, Lab Analysts, and Manufacturers with cryptographic signature attribution on all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10896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24612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23524"/>
                </a:solidFill>
              </a:defRPr>
            </a:pPr>
            <a:r>
              <a:t>4. Automated Quality Gate Enforcement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Implement automated validation for laboratory moisture tests, chemical purity, and botanical species authentication before batches can advance to formulation.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23524"/>
                </a:solidFill>
              </a:defRPr>
            </a:pPr>
            <a:r>
              <a:t>5. Consumer QR Transparency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Empower end consumers to scan bottle QR codes with standard smartphones, triggering automatic cryptographic verification of on-chain proofs without requiring a crypto wallet.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75488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89204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23524"/>
                </a:solidFill>
              </a:defRPr>
            </a:pPr>
            <a:r>
              <a:t>6. Regulatory Visibility for Ministry of AYUSH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Provide compliance monitoring interfaces giving regulatory authorities real-time visibility into herb sourcing volumes, geographical origins, and conservation quotas.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5. 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524"/>
                </a:solidFill>
              </a:defRPr>
            </a:pPr>
            <a:r>
              <a:t>Scope of Project: Boundaries &amp;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23524"/>
                </a:solidFill>
              </a:defRPr>
            </a:pPr>
            <a:r>
              <a:t>In-Scope Functional Deliverables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Herb Collection Geo-Tagging: Capture GPS coordinates (6-decimal precision), harvesting date, species, plant part, and sensor data.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Multi-Stage Custody Progression: Full digital workflows for Collector, Transport, Processing, Lab Testing, and Product Batch Formulation.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Smart Contract Layer: Solidity smart contract (AgastyaTrace.sol) managing on-chain chained hash-proofs and event emissions.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Decentralized Verification Engine: Client-side cryptographic verifier comparing MongoDB operational data against Ethereum state.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Consumer Verification QR Portal: Public dynamic verification page surfacing complete timeline, actor wallets, and verification badges.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23524"/>
                </a:solidFill>
              </a:defRPr>
            </a:pPr>
            <a:r>
              <a:t>Technical Boundaries &amp; Future Scope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Dual-Storage Paradigm: Raw heavy documents and sensor arrays stored in operational database (MongoDB); only cryptographic Keccak-256 proofs anchored on-chain to minimize gas fees.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Network Architecture: Evaluated on local EVM node (Chain ID 31337) and Ethereum Sepolia Testnet (Chain ID 11155111) via Ethers.js v6 &amp; MetaMask.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Out-of-Scope (Future Iterations):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  - Direct DNA sequencer hardware integration into field smartphones.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  - Automated drone-based geo-fencing for forest boundaries.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  - Offline USSD/IVR telecom gateway (architected for Phase 4).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6.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524"/>
                </a:solidFill>
              </a:defRPr>
            </a:pPr>
            <a:r>
              <a:t>Problem Statement: The Central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6459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C5A059"/>
                </a:solidFill>
              </a:defRPr>
            </a:pPr>
            <a:r>
              <a:t>FORMAL PROBLEM STATEMENT:</a:t>
            </a:r>
          </a:p>
          <a:p>
            <a:pPr>
              <a:defRPr sz="1200" b="1">
                <a:solidFill>
                  <a:srgbClr val="123524"/>
                </a:solidFill>
              </a:defRPr>
            </a:pPr>
            <a:r>
              <a:t>“To design and implement a decentralized, tamper-proof botanical traceability framework—AgastyaTrace—that eliminates counterfeit herbs, guarantees botanical authenticity, automates multi-stage quality compliance via smart contracts, and establishes an immutable, cryptographically verifiable chain-of-custody across collectors, transporters, processors, analytical laboratories, manufacturers, and end consumers.”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23524"/>
                </a:solidFill>
              </a:defRPr>
            </a:pPr>
            <a:r>
              <a:t>Species Adulteration &amp; Substitution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Morphologically similar but pharmacologically inert or inferior plant parts are substituted due to lack of source authentication.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9184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42900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23524"/>
                </a:solidFill>
              </a:defRPr>
            </a:pPr>
            <a:r>
              <a:t>Opaque Supply Chain Intermediaries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Fragmented, paper-based records between rural collection and factories create information silos where counterfeit batches enter undetected.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4632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8348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23524"/>
                </a:solidFill>
              </a:defRPr>
            </a:pPr>
            <a:r>
              <a:t>Centralized Database Vulnerability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Traditional relational databases can be retroactively edited, manipulated by corrupt actors, or compromised by single-point-of-failure outages.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84632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98348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23524"/>
                </a:solidFill>
              </a:defRPr>
            </a:pPr>
            <a:r>
              <a:t>Consumer &amp; Regulatory Trust Deficit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Neither consumers nor the Ministry of AYUSH possess an independent cryptographic mechanism to audit product origin claims.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7. SYSTEM ARCHITECTURE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524"/>
                </a:solidFill>
              </a:defRPr>
            </a:pPr>
            <a:r>
              <a:t>Proposed System Architecture: 4-Layer Hybrid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123524"/>
                </a:solidFill>
              </a:defRPr>
            </a:pPr>
            <a:r>
              <a:t>1. Data Collection &amp; IoT Sensing Layer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Mobile DApp with GPS Geolocation (6 decimal precision)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Environmental sensors (Temperature, Humidity, Soil Moisture, pH)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Botanical species taxonomy &amp; anatomical plant-part selection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QR Code scanner / camera hardware interfaces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123524"/>
                </a:solidFill>
              </a:defRPr>
            </a:pPr>
            <a:r>
              <a:t>2. Operational Backend &amp; API Layer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Node.js &amp; Express.js REST API with CORS &amp; rate-limiting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MongoDB Atlas with Mongoose ODM (WiredTiger Storage Engine)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Passport.js Local Strategy authentication with session management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Dynamic QR Code generation engine (qrcode library)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123524"/>
                </a:solidFill>
              </a:defRPr>
            </a:pPr>
            <a:r>
              <a:t>3. Blockchain Proof &amp; Smart Contract Layer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Solidity smart contract (AgastyaTrace.sol) on EVM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Hardhat local blockchain node &amp; Ethereum Sepolia Testnet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Deterministic Keccak-256 data hash computation (Zero gas for payload)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Chained cumulative hash linkage: P_i = keccak256(chainId, event, dataHash, P_{i-1}, T, Actor)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6908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5196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123524"/>
                </a:solidFill>
              </a:defRPr>
            </a:pPr>
            <a:r>
              <a:t>4. Presentation &amp; Verification Layer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React 18 SPA built with Vite and Tailwind CSS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Leaflet GIS mapping with live polyline route visualizer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Web3 BrowserProvider (MetaMask wallet signing)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Dynamic Blockchain Verification Engine (Recalculation &amp; On-Chain Audit)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7. SYSTEM ARCHITECTURE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524"/>
                </a:solidFill>
              </a:defRPr>
            </a:pPr>
            <a:r>
              <a:t>Proposed System Architecture: Data Flow &amp; Custody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669280" cy="8686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36192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123524"/>
                </a:solidFill>
              </a:defRPr>
            </a:pPr>
            <a:r>
              <a:t>STAGE 1: COLLECTOR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Farmer/Tribal Harvester registers herb. GPS coordinates, botanical species, plant part, and sensor readings recorded. Emits COLLECTED proof to Ethereum.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5669280" cy="8686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123524"/>
                </a:solidFill>
              </a:defRPr>
            </a:pPr>
            <a:r>
              <a:t>STAGE 2: TRANSPORT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Logistics partner scans collector QR code. Records vehicle transit, destination processing facility, and handover timestamp. Emits TRANSPORTED proof.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5669280" cy="8686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547872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123524"/>
                </a:solidFill>
              </a:defRPr>
            </a:pPr>
            <a:r>
              <a:t>STAGE 3: PROCESSING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Processing plant logs received vs processed weight, processing method (Drying, Grinding, Sorting). Emits PROCESSED proof linked to previous hash.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0560"/>
            <a:ext cx="5669280" cy="8686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53712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123524"/>
                </a:solidFill>
              </a:defRPr>
            </a:pPr>
            <a:r>
              <a:t>STAGE 4: LAB TESTING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Certified analytical laboratory conducts moisture, chemical, and DNA tests. Pass/Fail certificate linked. Emits LAB_TESTED proof to blockchain.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5669280" cy="8686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559552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123524"/>
                </a:solidFill>
              </a:defRPr>
            </a:pPr>
            <a:r>
              <a:t>STAGE 5: MANUFACTURING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Ayurvedic formulation batch created under classical Veda standards (Charaka/Sushruta). Consumer QR label generated. Emits MANUFACTURED proof.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1463040"/>
            <a:ext cx="47548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6459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23524"/>
                </a:solidFill>
              </a:defRPr>
            </a:pPr>
            <a:r>
              <a:t>DATA FLOW DIAGRAM (DFD) ARCHITECTURE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DFD Level 0 (Context Level):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- External Entities: Collector, Transporter, Processor, Lab Technician, Manufacturer, Consumer, AYUSH Regulator.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- Central Process: AgastyaTrace Hybrid Traceability Engine.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- Bi-directional Data Flow: Operational records stored in MongoDB; cryptographic verification receipts queried from Ethereum EVM.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DFD Level 1 (Modular Decomposition):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- Process 1.0: First-Mile Geo-Registration &amp; Sensor Logging.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- Process 2.0: Custody Transfer &amp; Transit Checkpointing.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- Process 3.0: Lab Certification &amp; Quality Gate Validation.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- Process 4.0: Product Batch Aggregation &amp; QR Encoding.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- Process 5.0: Dynamic Cryptographic Verification Engine.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Security Guarantee: No entity can overwrite prior stage history because every on-chain event encapsulates the parent event hash.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8. ALGORITHM &amp; MATHEMATICAL MODEL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524"/>
                </a:solidFill>
              </a:defRPr>
            </a:pPr>
            <a:r>
              <a:t>Methodology &amp; Mathematical Model: Cryptographic Hashing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23524"/>
                </a:solidFill>
              </a:defRPr>
            </a:pPr>
            <a:r>
              <a:t>1. Deterministic State Canonicalization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To guarantee that JSON serialization is perfectly deterministic across diverse client devices, all object keys are recursively sorted:</a:t>
            </a:r>
          </a:p>
          <a:p>
            <a:pPr>
              <a:defRPr sz="950">
                <a:solidFill>
                  <a:srgbClr val="212529"/>
                </a:solidFill>
              </a:defRPr>
            </a:pP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  S_i = Canonicalize(D_i) = { k_(1): v_(1), k_(2): v_(2), ..., k_(n): v_(n) }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  where k_(1) &lt; k_(2) &lt; ... &lt; k_(n) (Lexicographical ordering)</a:t>
            </a:r>
          </a:p>
          <a:p>
            <a:pPr>
              <a:defRPr sz="950">
                <a:solidFill>
                  <a:srgbClr val="212529"/>
                </a:solidFill>
              </a:defRPr>
            </a:pPr>
          </a:p>
          <a:p>
            <a:pPr>
              <a:defRPr sz="950">
                <a:solidFill>
                  <a:srgbClr val="212529"/>
                </a:solidFill>
              </a:defRPr>
            </a:pPr>
            <a:r>
              <a:t>Geo-coordinates are normalized to exact 6-decimal floating precision (lat.toFixed(6), lng.toFixed(6)) to prevent IEEE 754 float divergence.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52120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48463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23524"/>
                </a:solidFill>
              </a:defRPr>
            </a:pPr>
            <a:r>
              <a:t>2. Data Hash Formulation (Keccak-256)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The operational data hash representing each supply chain milestone is computed as:</a:t>
            </a:r>
          </a:p>
          <a:p>
            <a:pPr>
              <a:defRPr sz="950">
                <a:solidFill>
                  <a:srgbClr val="212529"/>
                </a:solidFill>
              </a:defRPr>
            </a:pP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  H_(data, i) = Keccak256( UTF8Encode( CanonicalJsonStringify( S_i ) ) ) ∈ {0, 1}^(256)</a:t>
            </a:r>
          </a:p>
          <a:p>
            <a:pPr>
              <a:defRPr sz="950">
                <a:solidFill>
                  <a:srgbClr val="212529"/>
                </a:solidFill>
              </a:defRPr>
            </a:pPr>
          </a:p>
          <a:p>
            <a:pPr>
              <a:defRPr sz="950">
                <a:solidFill>
                  <a:srgbClr val="212529"/>
                </a:solidFill>
              </a:defRPr>
            </a:pPr>
            <a:r>
              <a:t>Properties Guaranteed: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Pre-image Resistance: Computationally infeasible to reverse H_(data, i) to reveal confidential farmer records.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Collision Resistance: Impossible to craft two different herb batches with identical hashes: H(D) = H(D') iff D = D'.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154680"/>
            <a:ext cx="52120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291840"/>
            <a:ext cx="48463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23524"/>
                </a:solidFill>
              </a:defRPr>
            </a:pPr>
            <a:r>
              <a:t>3. Cumulative Hash-Chain Linkage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Each event is linked to the chain using a recursive recurrence relation:</a:t>
            </a:r>
          </a:p>
          <a:p>
            <a:pPr>
              <a:defRPr sz="950">
                <a:solidFill>
                  <a:srgbClr val="212529"/>
                </a:solidFill>
              </a:defRPr>
            </a:pP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  P_0 = 0x0000...0000  (Genesis proof for COLLECTED)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  P_i = Keccak256( chainId || eventType_i || H_(data, i) || P_(i-1) || Timestamp_i || Actor_i )</a:t>
            </a:r>
          </a:p>
          <a:p>
            <a:pPr>
              <a:defRPr sz="950">
                <a:solidFill>
                  <a:srgbClr val="212529"/>
                </a:solidFill>
              </a:defRPr>
            </a:pPr>
          </a:p>
          <a:p>
            <a:pPr>
              <a:defRPr sz="950">
                <a:solidFill>
                  <a:srgbClr val="212529"/>
                </a:solidFill>
              </a:defRPr>
            </a:pPr>
            <a:r>
              <a:t>Mathematical Security Proof: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If an attacker alters past record D_j (j &lt; i), H_(data, j) changes to H'_(data, j).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This breaks P_j, cascading through all subsequent proofs: P'_k ≠ P_k for all k ≥ j.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The verification engine detects tampering at the exact stage of divergence.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8. ALGORITHM &amp; MATHEMATICAL MODEL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524"/>
                </a:solidFill>
              </a:defRPr>
            </a:pPr>
            <a:r>
              <a:t>Algorithm &amp; Methodology: Smart Contract &amp; Verification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23524"/>
                </a:solidFill>
              </a:defRPr>
            </a:pPr>
            <a:r>
              <a:t>ALGORITHM 1: PROOF RECORDING (ON-CHAIN)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Input: chainId, eventType, stageData, msg.sender (Actor)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Output: Transaction receipt with immutable block proof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--------------------------------------------------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1: S ← Canonicalize(stageData)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2: dataHash ← Keccak256(CanonicalJsonStringify(S))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3: Prompt user's MetaMask signer for contract call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4: Contract executes addEvent(chainId, eventType, dataHash):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     a: prevHash ← latestEventHash[chainId]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     b: timestamp ← block.timestamp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     c: cumulativeHash ← keccak256(abi.encodePacked(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           chainId, eventType, dataHash, prevHash, timestamp, msg.sender))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     d: events[chainId].push(TraceEvent(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           eventType, dataHash, prevHash, timestamp, msg.sender))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     e: latestEventHash[chainId] ← cumulativeHash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     f: emit EventAdded(chainId, eventType, dataHash, ...)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5: Return txHash, blockNumber, dataHash to Client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23524"/>
                </a:solidFill>
              </a:defRPr>
            </a:pPr>
            <a:r>
              <a:t>ALGORITHM 2: DECENTRALIZED VERIFICATION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Input: chainId, mongoChainDocument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Output: VerificationResult (isVerified, mismatchStages)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--------------------------------------------------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1: Fetch on-chain events via getEvents(chainId) from EVM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2: If onChainEvents.length == 0: Return NOT_RECORDED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3: Extract operational stages: [Collector, Transport, Proc, Lab]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4: For each stage k in expectedStages: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     a: S_k ← Canonicalize(expectedStages[k])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     b: H_recalculated ← Keccak256(JSON(S_k))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     c: H_onchain ← onChainEvents[k].dataHash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     d: If H_recalculated ≠ H_onchain: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           Flag MISMATCH at stage k; allMatch ← false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5: For i from 1 to onChainEvents.length - 1: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     Verify onChainEvents[i].previousHash ≠ 0x0 (Linkage check)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6: If allMatch == true: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     Render '✓ VERIFIED ON ETHEREUM (All records intact)'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   Else: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     Render '✗ VERIFICATION FAILED (Integrity mismatch detected)'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9. DATASET DETAILS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524"/>
                </a:solidFill>
              </a:defRPr>
            </a:pPr>
            <a:r>
              <a:t>Dataset Details: Ayurvedic Botanical Species Taxonomy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1463040"/>
                <a:gridCol w="2377440"/>
                <a:gridCol w="2590495"/>
              </a:tblGrid>
              <a:tr h="705394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Species Common Name</a:t>
                      </a:r>
                    </a:p>
                  </a:txBody>
                  <a:tcPr>
                    <a:solidFill>
                      <a:srgbClr val="1235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Botanical / Scientific Name</a:t>
                      </a:r>
                    </a:p>
                  </a:txBody>
                  <a:tcPr>
                    <a:solidFill>
                      <a:srgbClr val="1235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Rarity Category</a:t>
                      </a:r>
                    </a:p>
                  </a:txBody>
                  <a:tcPr>
                    <a:solidFill>
                      <a:srgbClr val="1235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Approved Plant Parts</a:t>
                      </a:r>
                    </a:p>
                  </a:txBody>
                  <a:tcPr>
                    <a:solidFill>
                      <a:srgbClr val="1235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Active Phytochemicals / Use</a:t>
                      </a:r>
                    </a:p>
                  </a:txBody>
                  <a:tcPr>
                    <a:solidFill>
                      <a:srgbClr val="123524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Ashwagandha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Withania somnifera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98754"/>
                          </a:solidFill>
                        </a:defRPr>
                      </a:pPr>
                      <a:r>
                        <a:t>Common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Root, Leaves, Berries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Withanolides (Anti-stress &amp; adaptogen)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Turmeric (Haldi)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Curcuma longa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98754"/>
                          </a:solidFill>
                        </a:defRPr>
                      </a:pPr>
                      <a:r>
                        <a:t>Common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Rhizome, Root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Curcuminoids (Anti-inflammatory)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Neem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Azadirachta indica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98754"/>
                          </a:solidFill>
                        </a:defRPr>
                      </a:pPr>
                      <a:r>
                        <a:t>Common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Leaves, Bark, Seeds, Oil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Azadirachtin (Antimicrobial &amp; detox)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Shatavari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Asparagus racemosus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B47814"/>
                          </a:solidFill>
                        </a:defRPr>
                      </a:pPr>
                      <a:r>
                        <a:t>Uncommon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Root, Tubers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Shatavarins (Immune &amp; hormonal health)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Jatamansi (Spikenard)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Nardostachys jatamansi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B42828"/>
                          </a:solidFill>
                        </a:defRPr>
                      </a:pPr>
                      <a:r>
                        <a:t>Rare (IUCN Red List)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Rhizome, Root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Jatamansone (Neuroprotective sedative)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Kashmiri Saffron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Crocus sativus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B42828"/>
                          </a:solidFill>
                        </a:defRPr>
                      </a:pPr>
                      <a:r>
                        <a:t>Rare (High Value)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Stigma, Petals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Crocin, Safranal (Cardio &amp; anti-oxidant)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9. DATASET DETAILS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524"/>
                </a:solidFill>
              </a:defRPr>
            </a:pPr>
            <a:r>
              <a:t>Dataset Details: Data Schemas &amp; IoT Telemetry Attributes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23524"/>
                </a:solidFill>
              </a:defRPr>
            </a:pPr>
            <a:r>
              <a:t>Collection Stage Schema (Collector.jsx)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species: Botanical identifier string (indexed)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quantity: Harvesting weight in kg (Number ≥ 0)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farmingType: Enum ['Organic', 'Conventional', 'Wild']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plantPart: Enum ['Leaf', 'Leaves', 'Root', 'Stem', 'Flower', 'Flowers', 'Seed', 'Seeds', 'Rhizome', 'Bark', 'Heartwood', 'Stigma', 'Mycelium', ...]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location: Exact GPS { lat: Float, lng: Float }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sensors: Real-time environmental readings: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- Temperature: 20°C - 30°C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- Humidity: 40% - 80%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- Soil Moisture: 10% - 30%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- Soil pH: 5.0 - 7.0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userId: Mongoose ObjectId reference to verified Collector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23524"/>
                </a:solidFill>
              </a:defRPr>
            </a:pPr>
            <a:r>
              <a:t>Downstream Stage Schemas &amp; Batch Aggregation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Transport Schema: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- collectorId, transporterId, quantityKg, destination,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- transit checkpoint GPS coordinates &amp; arrival timestamp.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Processing Schema: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- receivedQuantityKg, processedQuantityKg (yield loss audit),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- processingType Enum ['Drying', 'Grinding', 'Grading', 'Sorting'].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Laboratory Testing Schema: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- testedQuantityKg, testType ['Phytochemical', 'Heavy Metals', 'Moisture Content', 'DNA Barcoding', 'Pesticide'],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- testResult ('Pass'/'Fail'), digital certificate URL.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ProductBatch Schema: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- batchIds (Array of validated Lab IDs), productName,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- vedaUsed Enum ['Charaka Samhita', 'Sushruta Samhita', 'Ashtanga Hridaya'], unit weight, QR code UUID.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10. PROJECT IMPLEMENTATION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524"/>
                </a:solidFill>
              </a:defRPr>
            </a:pPr>
            <a:r>
              <a:t>Implementation of Project: Full-Stack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23524"/>
                </a:solidFill>
              </a:defRPr>
            </a:pPr>
            <a:r>
              <a:t>Smart Contract Layer (Ethereum EVM)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Contract: AgastyaTrace.sol (Solidity 0.8.20)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Toolchain: Hardhat local EVM node (Chain ID 31337) &amp; Sepolia testnet deployment scripts (scripts/deploy.cjs)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Data Efficiency: Stores compact 32-byte bytes32 Keccak-256 hashes instead of costly raw JSON payloads on-chain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Cryptographic Continuity: Chained latestEventHash mapping linking every new stage to previous cumulative hash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23524"/>
                </a:solidFill>
              </a:defRPr>
            </a:pPr>
            <a:r>
              <a:t>Backend Services (Node.js &amp; Express)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REST API: Express 5 server (port 5000) managing stage transitions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Database: MongoDB (port 27017, WiredTiger storage engine)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Authentication: Passport.js local session auth with HTTP-only cookies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QR Engine: qrcode library generating base64 PNG data URLs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23524"/>
                </a:solidFill>
              </a:defRPr>
            </a:pPr>
            <a:r>
              <a:t>Frontend Application (React 18 &amp; Vite)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Framework: React 18 SPA bundled via Vite 7 (317 modules, 0 errors)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Styling: Tailwind CSS responsive utility design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Interactive Mapping: Leaflet &amp; react-leaflet rendering GPS waypoints and animated journey polylines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State Management: UserContext with auth session persistence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6908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5196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23524"/>
                </a:solidFill>
              </a:defRPr>
            </a:pPr>
            <a:r>
              <a:t>Web3 Blockchain Integration (Ethers.js v6)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Wallet Provider: Ethers.js BrowserProvider interfacing with MetaMask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RPC Node: High-performance local JSON-RPC server (scripts/local-rpc.cjs) on port 8545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Client Verification: Deterministic canonical hashing &amp; on-chain state queries built in client/src/utils/blockchain.js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10. PARTIAL RESULTS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524"/>
                </a:solidFill>
              </a:defRPr>
            </a:pPr>
            <a:r>
              <a:t>Partial Results: Live Deployment &amp; Verification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4846320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23524"/>
                </a:solidFill>
              </a:defRPr>
            </a:pPr>
            <a:r>
              <a:t>1. Live Smart Contract &amp; Unit Tests Verified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Test Suite: test/run-test.cjs executed via Ethers.js v6.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Result 1: 100% deterministic canonical Keccak-256 state hashing verified across multiple independent iterations.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Result 2: 4-stage hash-chain continuity (COLLECTED -&gt; TRANSPORTED -&gt; PROCESSED -&gt; LAB_TESTED) validated with 0 errors.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Result 3: Smart contract ABI signatures and event emissions verified.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27632"/>
            <a:ext cx="4846320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23524"/>
                </a:solidFill>
              </a:defRPr>
            </a:pPr>
            <a:r>
              <a:t>2. Working Collector &amp; Supply Stages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Collector Module: Real-time GPS location capture and botanical taxonomy dropdowns successfully saving to MongoDB.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On-Chain Proof Generation: Post-save prompt triggers MetaMask; returns live Ethereum transaction hash (txHash) and dataHash badge.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Transport &amp; Processing: QR codes generated and successfully scanned by downstream handlers to link subsequent custody steps.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33672"/>
            <a:ext cx="4846320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23524"/>
                </a:solidFill>
              </a:defRPr>
            </a:pPr>
            <a:r>
              <a:t>3. Decentralized Verification Engine (ChainDetails.jsx)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Live Blockchain Verification Section deployed on /chains/:id.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Proof Timeline: Renders dark-themed chronologically ordered cards displaying on-chain actor wallets, timestamps, dataHash, and previousHash.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Dynamic Recalculation: Clicking 'Verify Supply Chain' recomputes Keccak-256 hashes from MongoDB operational records and audits against Ethereum state.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Outcome: Displays '✓ VERIFIED ON ETHEREUM (All supply-chain records match their immutable proofs)'.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6908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33672"/>
            <a:ext cx="4846320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23524"/>
                </a:solidFill>
              </a:defRPr>
            </a:pPr>
            <a:r>
              <a:t>4. System Performance &amp; Build Metrics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Vite Production Build: 317 modules compiled in 31.59s with zero JSX/syntax warnings.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• Microservices Active: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- MongoDB (port 27017): Responding with 5 live herb batches.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- Backend API (port 5000): Authentication, CRUD, and CORS verified.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  - Local Blockchain Node (port 8545): Chain ID 31337 ready for MetaMask.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11. PROJECT PLAN &amp;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524"/>
                </a:solidFill>
              </a:defRPr>
            </a:pPr>
            <a:r>
              <a:t>Project Plan &amp; Timeline: Execution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560320" cy="548640"/>
          </a:xfrm>
          <a:prstGeom prst="rect">
            <a:avLst/>
          </a:prstGeom>
          <a:solidFill>
            <a:srgbClr val="123524"/>
          </a:solidFill>
          <a:ln>
            <a:solidFill>
              <a:srgbClr val="123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Phase 1: Weeks 1–3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23524"/>
                </a:solidFill>
              </a:defRPr>
            </a:pPr>
            <a:r>
              <a:t>Research &amp; Design</a:t>
            </a:r>
          </a:p>
          <a:p>
            <a:pPr>
              <a:defRPr b="1" sz="900">
                <a:solidFill>
                  <a:srgbClr val="198754"/>
                </a:solidFill>
              </a:defRPr>
            </a:pPr>
            <a:r>
              <a:t>Status: COMPLETED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• Literature survey of 45+ papers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• Stakeholder requirement mapping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• Dual-storage system architecture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• Botanical taxonomy curation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455" y="1463040"/>
            <a:ext cx="2560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13455" y="1463040"/>
            <a:ext cx="2560320" cy="548640"/>
          </a:xfrm>
          <a:prstGeom prst="rect">
            <a:avLst/>
          </a:prstGeom>
          <a:solidFill>
            <a:srgbClr val="123524"/>
          </a:solidFill>
          <a:ln>
            <a:solidFill>
              <a:srgbClr val="123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Phase 2: Weeks 4–8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0615" y="210312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23524"/>
                </a:solidFill>
              </a:defRPr>
            </a:pPr>
            <a:r>
              <a:t>Core Development</a:t>
            </a:r>
          </a:p>
          <a:p>
            <a:pPr>
              <a:defRPr b="1" sz="900">
                <a:solidFill>
                  <a:srgbClr val="198754"/>
                </a:solidFill>
              </a:defRPr>
            </a:pPr>
            <a:r>
              <a:t>Status: COMPLETED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• Mongoose schemas &amp; Express API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• Solidity contract AgastyaTrace.sol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• Passport auth &amp; session cookies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• Leaflet GPS map 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390" y="1463040"/>
            <a:ext cx="2560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5390" y="1463040"/>
            <a:ext cx="2560320" cy="548640"/>
          </a:xfrm>
          <a:prstGeom prst="rect">
            <a:avLst/>
          </a:prstGeom>
          <a:solidFill>
            <a:srgbClr val="1E5631"/>
          </a:solidFill>
          <a:ln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Phase 3: Weeks 9–11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2550" y="210312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E5631"/>
                </a:solidFill>
              </a:defRPr>
            </a:pPr>
            <a:r>
              <a:t>Blockchain Integration</a:t>
            </a:r>
          </a:p>
          <a:p>
            <a:pPr>
              <a:defRPr b="1" sz="900">
                <a:solidFill>
                  <a:srgbClr val="C5A059"/>
                </a:solidFill>
              </a:defRPr>
            </a:pPr>
            <a:r>
              <a:t>Status: IN PROGRESS / REVIEW III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• Ethers.js v6 &amp; MetaMask connector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• Canonical Keccak-256 state hashing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• ChainDetails verification UI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• Contract unit tests &amp; local RPC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1463040"/>
            <a:ext cx="2560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78240" y="1463040"/>
            <a:ext cx="2560320" cy="548640"/>
          </a:xfrm>
          <a:prstGeom prst="rect">
            <a:avLst/>
          </a:prstGeom>
          <a:solidFill>
            <a:srgbClr val="6C757D"/>
          </a:solidFill>
          <a:ln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Phase 4: Weeks 12–14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10312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6C757D"/>
                </a:solidFill>
              </a:defRPr>
            </a:pPr>
            <a:r>
              <a:t>Pilot &amp; AYUSH Audit</a:t>
            </a:r>
          </a:p>
          <a:p>
            <a:pPr>
              <a:defRPr b="1" sz="900">
                <a:solidFill>
                  <a:srgbClr val="6C757D"/>
                </a:solidFill>
              </a:defRPr>
            </a:pPr>
            <a:r>
              <a:t>Status: UPCOMING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• Field pilot with rural collectors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• Regulatory compliance dashboard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• IPFS decentralized report pinning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• Final project documentation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760720"/>
            <a:ext cx="10728655" cy="6400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80644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23524"/>
                </a:solidFill>
              </a:defRPr>
            </a:pPr>
            <a:r>
              <a:t>Deliverables Status for Review III:  Dataset Details (100% Complete)  |  Implementation of Project (100% Functional)  |  Partial Results (100% Tested)  |  Implementation Paper (Draft Ready)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12.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524"/>
                </a:solidFill>
              </a:defRPr>
            </a:pPr>
            <a:r>
              <a:t>References: Key Academic Journals &amp; Regulatory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23524"/>
                </a:solidFill>
              </a:defRPr>
            </a:pPr>
            <a:r>
              <a:t>PRIMARY PEER-REVIEWED LITERATURE (1-6)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[1] F. Tian, 'A supply chain traceability system for food safety based on HACCP, blockchain and Internet of Things,' IEEE ICSSSM, 2017.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[2] N. Kshetri, 'Blockchain’s roles in meeting key supply chain management objectives,' Int. Journal of Information Management, vol. 39, pp. 80–89, 2018.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[3] R. Chen et al., 'Herb Chain: A blockchain-based informative platform for quality assurance of herbal products,' J. Cleaner Production, vol. 296, 2021.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[4] Q. Lin et al., 'A Trusted Blockchain-Based Traceability System for Fruit &amp; Vegetable Agricultural Products,' IEEE Access, vol. 9, 2021.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[5] H. Feng et al., 'Improving Agricultural Product Traceability Using Blockchain Technology,' Computers &amp; Electronics in Agriculture, vol. 172, 2020.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[6] S. Wang et al., 'Traditional Chinese Medicine Traceability System Based on Lightweight Blockchain,' Applied Sciences, vol. 12, no. 4, 2022.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23524"/>
                </a:solidFill>
              </a:defRPr>
            </a:pPr>
            <a:r>
              <a:t>APPLICATION, PHARMA &amp; REGULATORY SOURCES (7-12)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[7] S. Balamurugan et al., 'Blockchain-Based Traceability in Agri-Food SME: Case Study of a Traditional Bakery,' Foods, vol. 10, no. 5, 2021.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[8] M. P. Caro et al., 'Blockchain-based traceability in Agri-Food supply chain management: A practical implementation,' IoTBDS, 2018.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[9] S. Saberi et al., 'Blockchain technology and its relationships to sustainable supply chain management,' Int. J. Production Research, vol. 57, 2019.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[10] A. Kumar &amp; P. Singh, 'AI-based recognition of Ayurvedic plants integrated with blockchain traceability,' Comp. &amp; Elec. in Ag., vol. 195, 2022.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[11] World Health Organization (WHO), 'Substandard and falsified medical products,' WHO Fact Sheet, Geneva, 2022.</a:t>
            </a:r>
          </a:p>
          <a:p>
            <a:pPr>
              <a:defRPr sz="900">
                <a:solidFill>
                  <a:srgbClr val="212529"/>
                </a:solidFill>
              </a:defRPr>
            </a:pPr>
            <a:r>
              <a:t>[12] Ayurvedic Pharmacopoeia of India (API), Ministry of Ayush, Government of India, New Delhi. https://pcimh.gov.in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24"/>
          </a:solidFill>
          <a:ln>
            <a:solidFill>
              <a:srgbClr val="123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340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23524"/>
                </a:solidFill>
              </a:defRPr>
            </a:pPr>
            <a:r>
              <a:t>THANK YOU!</a:t>
            </a:r>
          </a:p>
          <a:p>
            <a:pPr algn="ctr">
              <a:defRPr sz="1500" b="1">
                <a:solidFill>
                  <a:srgbClr val="1E5631"/>
                </a:solidFill>
              </a:defRPr>
            </a:pPr>
            <a:r>
              <a:t>AgastyaTrace: Botanical Traceability System of Ayurvedic Herbs Using Blockchain</a:t>
            </a:r>
          </a:p>
          <a:p>
            <a:br/>
            <a:pPr algn="ctr">
              <a:defRPr sz="1800" b="1">
                <a:solidFill>
                  <a:srgbClr val="C5A059"/>
                </a:solidFill>
              </a:defRPr>
            </a:pPr>
            <a:r>
              <a:t>Questions &amp; Technical Discussion</a:t>
            </a:r>
            <a:br/>
          </a:p>
          <a:p>
            <a:pPr algn="ctr">
              <a:defRPr sz="1100">
                <a:solidFill>
                  <a:srgbClr val="212529"/>
                </a:solidFill>
              </a:defRPr>
            </a:pPr>
            <a:r>
              <a:t>Team ID: B3  |  Parth Mirajkar, Kuldeep Khartude, Prasad Zoman</a:t>
            </a:r>
            <a:br/>
            <a:r>
              <a:t>Guide: Dr. Rupali T. Umbare</a:t>
            </a:r>
            <a:br/>
            <a:r>
              <a:t>Department of Information Technology, JSPM's RSCOE, Pune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